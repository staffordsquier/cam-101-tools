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staffordsquier.github.io/cam-101-tools/Tools/Html_tools/light-meter.html" TargetMode="External"/><Relationship Id="rId2" Type="http://schemas.openxmlformats.org/officeDocument/2006/relationships/hyperlink" Target="https://staffordsquier.github.io/cam-101-tools/Tools/Html_tools/exposure-triangle.html" TargetMode="External"/><Relationship Id="rId3" Type="http://schemas.openxmlformats.org/officeDocument/2006/relationships/hyperlink" Target="https://staffordsquier.github.io/cam-101-tools/Tools/Html_tools/exposure-triangle-comprehensive.ht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2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F4A3F"/>
          </a:solidFill>
          <a:ln w="12700">
            <a:solidFill>
              <a:srgbClr val="2F4A3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Starting Exposures — Tri-X 400 at 1/400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2011680" cy="594360"/>
          </a:xfrm>
          <a:prstGeom prst="rect">
            <a:avLst/>
          </a:prstGeom>
          <a:solidFill>
            <a:srgbClr val="2F4A3F"/>
          </a:solidFill>
          <a:ln w="12700">
            <a:solidFill>
              <a:srgbClr val="2F4A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430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Sun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73736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7830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4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f/16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274320" y="2743200"/>
            <a:ext cx="2011680" cy="822960"/>
          </a:xfrm>
          <a:prstGeom prst="rect">
            <a:avLst/>
          </a:prstGeom>
          <a:solidFill>
            <a:srgbClr val="F4F2EE"/>
          </a:solidFill>
          <a:ln w="12700">
            <a:solidFill>
              <a:srgbClr val="E2E0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7889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 16 rule.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starting point.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50592" y="1143000"/>
            <a:ext cx="2011680" cy="594360"/>
          </a:xfrm>
          <a:prstGeom prst="rect">
            <a:avLst/>
          </a:prstGeom>
          <a:solidFill>
            <a:srgbClr val="2F4A3F"/>
          </a:solidFill>
          <a:ln w="12700">
            <a:solidFill>
              <a:srgbClr val="2F4A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11430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Overcast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50592" y="173736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17830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4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f/11</a:t>
            </a:r>
            <a:endParaRPr lang="en-US" sz="4400" dirty="0"/>
          </a:p>
        </p:txBody>
      </p:sp>
      <p:sp>
        <p:nvSpPr>
          <p:cNvPr id="14" name="Shape 12"/>
          <p:cNvSpPr/>
          <p:nvPr/>
        </p:nvSpPr>
        <p:spPr>
          <a:xfrm>
            <a:off x="2450592" y="2743200"/>
            <a:ext cx="2011680" cy="822960"/>
          </a:xfrm>
          <a:prstGeom prst="rect">
            <a:avLst/>
          </a:prstGeom>
          <a:solidFill>
            <a:srgbClr val="F4F2EE"/>
          </a:solidFill>
          <a:ln w="12700">
            <a:solidFill>
              <a:srgbClr val="E2E0D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27889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clouds, soft shadows.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one stop.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26864" y="1143000"/>
            <a:ext cx="2011680" cy="594360"/>
          </a:xfrm>
          <a:prstGeom prst="rect">
            <a:avLst/>
          </a:prstGeom>
          <a:solidFill>
            <a:srgbClr val="2F4A3F"/>
          </a:solidFill>
          <a:ln w="12700">
            <a:solidFill>
              <a:srgbClr val="2F4A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26864" y="11430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Overcast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26864" y="173736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17830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4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f/8</a:t>
            </a:r>
            <a:endParaRPr lang="en-US" sz="4400" dirty="0"/>
          </a:p>
        </p:txBody>
      </p:sp>
      <p:sp>
        <p:nvSpPr>
          <p:cNvPr id="20" name="Shape 18"/>
          <p:cNvSpPr/>
          <p:nvPr/>
        </p:nvSpPr>
        <p:spPr>
          <a:xfrm>
            <a:off x="4626864" y="2743200"/>
            <a:ext cx="2011680" cy="822960"/>
          </a:xfrm>
          <a:prstGeom prst="rect">
            <a:avLst/>
          </a:prstGeom>
          <a:solidFill>
            <a:srgbClr val="F4F2EE"/>
          </a:solidFill>
          <a:ln w="12700">
            <a:solidFill>
              <a:srgbClr val="E2E0D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18304" y="27889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shadows visible.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two stops.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03136" y="1143000"/>
            <a:ext cx="2011680" cy="594360"/>
          </a:xfrm>
          <a:prstGeom prst="rect">
            <a:avLst/>
          </a:prstGeom>
          <a:solidFill>
            <a:srgbClr val="2F4A3F"/>
          </a:solidFill>
          <a:ln w="12700">
            <a:solidFill>
              <a:srgbClr val="2F4A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03136" y="114300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Shade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03136" y="173736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0D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03136" y="17830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F4A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f/5.6</a:t>
            </a:r>
            <a:endParaRPr lang="en-US" sz="4400" dirty="0"/>
          </a:p>
        </p:txBody>
      </p:sp>
      <p:sp>
        <p:nvSpPr>
          <p:cNvPr id="26" name="Shape 24"/>
          <p:cNvSpPr/>
          <p:nvPr/>
        </p:nvSpPr>
        <p:spPr>
          <a:xfrm>
            <a:off x="6803136" y="2743200"/>
            <a:ext cx="2011680" cy="822960"/>
          </a:xfrm>
          <a:prstGeom prst="rect">
            <a:avLst/>
          </a:prstGeom>
          <a:solidFill>
            <a:srgbClr val="F4F2EE"/>
          </a:solidFill>
          <a:ln w="12700">
            <a:solidFill>
              <a:srgbClr val="E2E0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94576" y="278892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 tree, north wall.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three stops.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794760"/>
            <a:ext cx="8595360" cy="1051560"/>
          </a:xfrm>
          <a:prstGeom prst="rect">
            <a:avLst/>
          </a:prstGeom>
          <a:solidFill>
            <a:srgbClr val="444441"/>
          </a:solidFill>
          <a:ln w="12700">
            <a:solidFill>
              <a:srgbClr val="4444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886200"/>
            <a:ext cx="8321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doubt: 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overexpose by one stop.   An overexposed negative can usually be printed.   An underexposed one often cannot.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F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Teaching Tools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link to open in the projector browser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solidFill>
            <a:srgbClr val="264038"/>
          </a:solidFill>
          <a:ln w="12700">
            <a:solidFill>
              <a:srgbClr val="3D6B5A"/>
            </a:solidFill>
            <a:prstDash val="solid"/>
          </a:ln>
        </p:spPr>
      </p:sp>
      <p:sp>
        <p:nvSpPr>
          <p:cNvPr id="5" name="Text 3">
            <a:hlinkClick r:id="rId1" tooltip=""/>
          </p:cNvPr>
          <p:cNvSpPr/>
          <p:nvPr/>
        </p:nvSpPr>
        <p:spPr>
          <a:xfrm>
            <a:off x="731520" y="149047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Light Meter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5623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in-camera meter — Pentax K1000, Nikon F3, or match-needle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85623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light-meter.html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514600"/>
            <a:ext cx="8229600" cy="914400"/>
          </a:xfrm>
          <a:prstGeom prst="rect">
            <a:avLst/>
          </a:prstGeom>
          <a:solidFill>
            <a:srgbClr val="264038"/>
          </a:solidFill>
          <a:ln w="12700">
            <a:solidFill>
              <a:srgbClr val="3D6B5A"/>
            </a:solidFill>
            <a:prstDash val="solid"/>
          </a:ln>
        </p:spPr>
      </p:sp>
      <p:sp>
        <p:nvSpPr>
          <p:cNvPr id="9" name="Text 7">
            <a:hlinkClick r:id="rId2" tooltip=""/>
          </p:cNvPr>
          <p:cNvSpPr/>
          <p:nvPr/>
        </p:nvSpPr>
        <p:spPr>
          <a:xfrm>
            <a:off x="731520" y="258775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Exposure Triangle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295351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Aperture, shutter speed, and ISO — simple interactive version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95351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exposure-triangle.html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8229600" cy="914400"/>
          </a:xfrm>
          <a:prstGeom prst="rect">
            <a:avLst/>
          </a:prstGeom>
          <a:solidFill>
            <a:srgbClr val="264038"/>
          </a:solidFill>
          <a:ln w="12700">
            <a:solidFill>
              <a:srgbClr val="3D6B5A"/>
            </a:solidFill>
            <a:prstDash val="solid"/>
          </a:ln>
        </p:spPr>
      </p:sp>
      <p:sp>
        <p:nvSpPr>
          <p:cNvPr id="13" name="Text 11">
            <a:hlinkClick r:id="rId3" tooltip=""/>
          </p:cNvPr>
          <p:cNvSpPr/>
          <p:nvPr/>
        </p:nvSpPr>
        <p:spPr>
          <a:xfrm>
            <a:off x="731520" y="3685032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u="sng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Exposure Triangle — Comprehensive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05079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C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version with Av/Tv priority modes, ambient light, and reciprocity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405079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4A7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exposure-triangle-comprehensive.html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6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CAM-101 — Week 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CAM-101 Week 1 — Classroom Reference</dc:title>
  <dc:subject>PptxGenJS Presentation</dc:subject>
  <dc:creator>PptxGenJS</dc:creator>
  <cp:lastModifiedBy>PptxGenJS</cp:lastModifiedBy>
  <cp:revision>1</cp:revision>
  <dcterms:created xsi:type="dcterms:W3CDTF">2026-04-05T18:03:56Z</dcterms:created>
  <dcterms:modified xsi:type="dcterms:W3CDTF">2026-04-05T18:03:56Z</dcterms:modified>
</cp:coreProperties>
</file>